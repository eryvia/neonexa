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64" r:id="rId5"/>
    <p:sldId id="258" r:id="rId6"/>
    <p:sldId id="259" r:id="rId7"/>
    <p:sldId id="260" r:id="rId8"/>
    <p:sldId id="261" r:id="rId9"/>
    <p:sldId id="262" r:id="rId10"/>
    <p:sldId id="266" r:id="rId11"/>
    <p:sldId id="263" r:id="rId12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xistentialism -lab" initials="E-" lastIdx="1" clrIdx="0">
    <p:extLst>
      <p:ext uri="{19B8F6BF-5375-455C-9EA6-DF929625EA0E}">
        <p15:presenceInfo xmlns:p15="http://schemas.microsoft.com/office/powerpoint/2012/main" userId="1e1f729df1a3088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125" d="100"/>
          <a:sy n="125" d="100"/>
        </p:scale>
        <p:origin x="1428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19T23:44:32.680" idx="1">
    <p:pos x="5232" y="1350"/>
    <p:text/>
    <p:extLst>
      <p:ext uri="{C676402C-5697-4E1C-873F-D02D1690AC5C}">
        <p15:threadingInfo xmlns:p15="http://schemas.microsoft.com/office/powerpoint/2012/main" timeZoneBias="-12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D4C47E9-7F0C-5BFA-3103-5E43CF6E04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A7A977E-7492-3805-3596-A8BA83BE73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767AE7C-4CD9-3663-EF54-AEEA4E8F8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76041-6D3A-48AC-9164-5AA91BFB6239}" type="datetimeFigureOut">
              <a:rPr lang="cs-CZ" smtClean="0"/>
              <a:t>24.05.2026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4A094B7-7D71-682B-600B-255EEEEF8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5EB55A6-89A3-658E-C0A9-D5BA6E595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439DB-BD1F-4739-8E70-44C0FD5BEE7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01113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4600D4-17EE-69FB-0FA6-0CA758DA6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038C8E2-D05F-2164-7EDF-D003F2913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A6B43D8-2265-8AD5-67F0-8B01A36CB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76041-6D3A-48AC-9164-5AA91BFB6239}" type="datetimeFigureOut">
              <a:rPr lang="cs-CZ" smtClean="0"/>
              <a:t>24.05.2026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15FC6E9-2E96-13C2-9EC0-7744AC40D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2B97B20-FE68-3E52-06D5-F6D44D3A8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439DB-BD1F-4739-8E70-44C0FD5BEE7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27257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A295DB4-0FB9-18CF-804B-49BE1ECAB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2F6853C-051E-67EE-3E8F-3300662B3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1A80B26-3043-8C1B-B234-CAB47AD28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76041-6D3A-48AC-9164-5AA91BFB6239}" type="datetimeFigureOut">
              <a:rPr lang="cs-CZ" smtClean="0"/>
              <a:t>24.05.2026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C3B09F0-3903-BCDD-9259-42A9AA9F6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D6E8D97-4EBC-8920-6EB5-BD2FEE126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439DB-BD1F-4739-8E70-44C0FD5BEE7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76151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FFAFA9D-BCA1-07F6-5865-753070D35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56638F6-FFAB-C55C-C63C-9FEF3DB96A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568909A1-85C6-D719-A036-9DEAE809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C55113CF-E24B-A8EC-FF8C-BD3352748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76041-6D3A-48AC-9164-5AA91BFB6239}" type="datetimeFigureOut">
              <a:rPr lang="cs-CZ" smtClean="0"/>
              <a:t>24.05.2026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D23C3A0D-3770-2C6B-7613-86539EE6B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AC82DB9-7682-EBB5-BDCC-FA260868D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439DB-BD1F-4739-8E70-44C0FD5BEE7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3693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BA1FD5E-43DC-1D16-1E21-7FB921B01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DCD9F38-1968-8899-DB04-828DFAA02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FE4FBA6-D068-46DC-EE9E-737963F078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143A1F49-276E-6201-1C87-3BC959988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30CB59AD-DFFA-D427-B2AB-7D0C451924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DDDC5F8F-40CF-991F-535C-4649C04EF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76041-6D3A-48AC-9164-5AA91BFB6239}" type="datetimeFigureOut">
              <a:rPr lang="cs-CZ" smtClean="0"/>
              <a:t>24.05.2026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902D557D-2F0B-A47B-5EF0-988150432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D0EF488E-00AA-796D-813B-E1CDE3488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439DB-BD1F-4739-8E70-44C0FD5BEE7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49698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D8B0C10-7508-0CD2-9A8C-DE081D860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C6C18B00-ED49-22C4-D2C7-8DAF144D8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76041-6D3A-48AC-9164-5AA91BFB6239}" type="datetimeFigureOut">
              <a:rPr lang="cs-CZ" smtClean="0"/>
              <a:t>24.05.2026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DBB61DE6-3496-92C4-98A7-6D0C34733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F6EBFE82-2E2D-E2D7-1203-43FD17D21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439DB-BD1F-4739-8E70-44C0FD5BEE7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6092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BE91671E-AC0F-4D8E-5676-06835D181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76041-6D3A-48AC-9164-5AA91BFB6239}" type="datetimeFigureOut">
              <a:rPr lang="cs-CZ" smtClean="0"/>
              <a:t>24.05.2026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5C4CF85D-8EA0-C840-922F-6407546CD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E49A8A69-B5B4-D074-02B9-491447B8E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439DB-BD1F-4739-8E70-44C0FD5BEE7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99533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666C2E6-B2A9-783D-9F0E-67830B882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03226C0-26EB-9657-18A1-493740774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D44EA03D-1548-744A-6AD1-D6A91429AF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542A464-C616-EEF4-0FA3-603E6F0EB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76041-6D3A-48AC-9164-5AA91BFB6239}" type="datetimeFigureOut">
              <a:rPr lang="cs-CZ" smtClean="0"/>
              <a:t>24.05.2026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6312ABCD-C952-03B0-034E-7FAB0BCC0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C90E575-CCBB-FC76-6AFC-5B84EBBFC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439DB-BD1F-4739-8E70-44C0FD5BEE7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39024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FCA42A0-1429-BF25-1DB6-AC91A4581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692BF782-6AF2-A610-E3FE-F48572048E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2102FE7-F002-802A-62B9-33347CB9DB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1D38546-B9E9-3D23-B1F1-95B5CC58C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76041-6D3A-48AC-9164-5AA91BFB6239}" type="datetimeFigureOut">
              <a:rPr lang="cs-CZ" smtClean="0"/>
              <a:t>24.05.2026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B423FE4E-5A3F-31FF-3AF6-2260AE597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DB4A482-DC58-DEA6-B009-F5E3D9B51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439DB-BD1F-4739-8E70-44C0FD5BEE7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17062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929A9BF-F05C-5F86-9C5E-3F9FD0BBC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422C41BC-B1B5-7677-D2B5-DA1E91D8A8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463E9B8-13CF-DAB7-763D-D0A7F69FF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76041-6D3A-48AC-9164-5AA91BFB6239}" type="datetimeFigureOut">
              <a:rPr lang="cs-CZ" smtClean="0"/>
              <a:t>24.05.2026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92C9527-D679-B9CC-7F53-74FEBEC6E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9D71745-193E-B3F9-BD43-1CBE6E354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439DB-BD1F-4739-8E70-44C0FD5BEE7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78876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E72FB308-AC6C-426C-7FA3-CF1A43DD57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16A0C856-B45C-AD2C-1480-3BBF574FE0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417AD4A-BDC7-EC95-CE8D-2C7F1BE53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76041-6D3A-48AC-9164-5AA91BFB6239}" type="datetimeFigureOut">
              <a:rPr lang="cs-CZ" smtClean="0"/>
              <a:t>24.05.2026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97BB052-F197-56FE-08EC-7193560B3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EE7F24F-D883-1AD2-0C88-C53FB1CBB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439DB-BD1F-4739-8E70-44C0FD5BEE7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74099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DEA81818-B91F-B6EB-C33B-FF3C1B6F0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295584A-42D3-0EE0-045D-B6859C339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C4CA151-8B5B-D437-D196-65D0AA45EA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376041-6D3A-48AC-9164-5AA91BFB6239}" type="datetimeFigureOut">
              <a:rPr lang="cs-CZ" smtClean="0"/>
              <a:t>24.05.2026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8C9A30B-654F-29F6-339C-9D88AD9A1C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CD92EDB-430D-B8E8-CAA3-1625E3D119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7439DB-BD1F-4739-8E70-44C0FD5BEE7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83112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jpg"/><Relationship Id="rId3" Type="http://schemas.openxmlformats.org/officeDocument/2006/relationships/image" Target="../media/image12.png"/><Relationship Id="rId21" Type="http://schemas.openxmlformats.org/officeDocument/2006/relationships/image" Target="../media/image30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5" Type="http://schemas.openxmlformats.org/officeDocument/2006/relationships/image" Target="../media/image34.png"/><Relationship Id="rId2" Type="http://schemas.openxmlformats.org/officeDocument/2006/relationships/image" Target="../media/image11.png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24" Type="http://schemas.openxmlformats.org/officeDocument/2006/relationships/image" Target="../media/image33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Relationship Id="rId22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97A14E5-7EA6-5371-00FF-E5A10E5A2C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Neonexa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FEC74E90-2F2F-AAF4-18ED-E08D0D2D4A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cs-CZ" sz="1600" dirty="0">
                <a:latin typeface="+mj-lt"/>
              </a:rPr>
              <a:t>Vývoj 2D </a:t>
            </a:r>
            <a:r>
              <a:rPr lang="cs-CZ" sz="1600" dirty="0" err="1">
                <a:latin typeface="+mj-lt"/>
              </a:rPr>
              <a:t>metroidvania</a:t>
            </a:r>
            <a:r>
              <a:rPr lang="cs-CZ" sz="1600" dirty="0">
                <a:latin typeface="+mj-lt"/>
              </a:rPr>
              <a:t> hry </a:t>
            </a:r>
          </a:p>
        </p:txBody>
      </p:sp>
      <p:sp>
        <p:nvSpPr>
          <p:cNvPr id="4" name="Podnadpis 2">
            <a:extLst>
              <a:ext uri="{FF2B5EF4-FFF2-40B4-BE49-F238E27FC236}">
                <a16:creationId xmlns:a16="http://schemas.microsoft.com/office/drawing/2014/main" id="{91896D4E-6A80-554D-BB8E-8712CF427425}"/>
              </a:ext>
            </a:extLst>
          </p:cNvPr>
          <p:cNvSpPr txBox="1">
            <a:spLocks/>
          </p:cNvSpPr>
          <p:nvPr/>
        </p:nvSpPr>
        <p:spPr>
          <a:xfrm>
            <a:off x="1593272" y="6227473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1400" dirty="0">
                <a:latin typeface="+mj-lt"/>
              </a:rPr>
              <a:t>Vojtěch </a:t>
            </a:r>
            <a:r>
              <a:rPr lang="cs-CZ" sz="1400" dirty="0" err="1">
                <a:latin typeface="+mj-lt"/>
              </a:rPr>
              <a:t>Peňák</a:t>
            </a:r>
            <a:r>
              <a:rPr lang="cs-CZ" sz="1400" dirty="0">
                <a:latin typeface="+mj-lt"/>
              </a:rPr>
              <a:t> | SPŠ Prosek | 2025/2026</a:t>
            </a:r>
          </a:p>
        </p:txBody>
      </p:sp>
    </p:spTree>
    <p:extLst>
      <p:ext uri="{BB962C8B-B14F-4D97-AF65-F5344CB8AC3E}">
        <p14:creationId xmlns:p14="http://schemas.microsoft.com/office/powerpoint/2010/main" val="283349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CEDC934-55A0-53C5-9E90-3DF74A799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obsah 6">
            <a:extLst>
              <a:ext uri="{FF2B5EF4-FFF2-40B4-BE49-F238E27FC236}">
                <a16:creationId xmlns:a16="http://schemas.microsoft.com/office/drawing/2014/main" id="{3BB914F6-9EB7-A21D-C47E-B18CC504D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13" name="Obrázek 12">
            <a:extLst>
              <a:ext uri="{FF2B5EF4-FFF2-40B4-BE49-F238E27FC236}">
                <a16:creationId xmlns:a16="http://schemas.microsoft.com/office/drawing/2014/main" id="{B7A69A92-4979-0005-3460-FDC1F0D17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5880" y="0"/>
            <a:ext cx="7106210" cy="3886149"/>
          </a:xfrm>
          <a:prstGeom prst="rect">
            <a:avLst/>
          </a:prstGeom>
        </p:spPr>
      </p:pic>
      <p:pic>
        <p:nvPicPr>
          <p:cNvPr id="15" name="Obrázek 14">
            <a:extLst>
              <a:ext uri="{FF2B5EF4-FFF2-40B4-BE49-F238E27FC236}">
                <a16:creationId xmlns:a16="http://schemas.microsoft.com/office/drawing/2014/main" id="{130E67BC-5BA8-7FB4-5321-06205381D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91000"/>
            <a:ext cx="3558279" cy="2065020"/>
          </a:xfrm>
          <a:prstGeom prst="rect">
            <a:avLst/>
          </a:prstGeom>
        </p:spPr>
      </p:pic>
      <p:pic>
        <p:nvPicPr>
          <p:cNvPr id="17" name="Obrázek 16">
            <a:extLst>
              <a:ext uri="{FF2B5EF4-FFF2-40B4-BE49-F238E27FC236}">
                <a16:creationId xmlns:a16="http://schemas.microsoft.com/office/drawing/2014/main" id="{75BC836D-0E23-360B-2A69-8FD617E2FD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7225" y="4191000"/>
            <a:ext cx="3517667" cy="1944072"/>
          </a:xfrm>
          <a:prstGeom prst="rect">
            <a:avLst/>
          </a:prstGeom>
        </p:spPr>
      </p:pic>
      <p:pic>
        <p:nvPicPr>
          <p:cNvPr id="19" name="Obrázek 18">
            <a:extLst>
              <a:ext uri="{FF2B5EF4-FFF2-40B4-BE49-F238E27FC236}">
                <a16:creationId xmlns:a16="http://schemas.microsoft.com/office/drawing/2014/main" id="{E67A1527-A200-6A41-6437-0B4F053CB2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122366"/>
            <a:ext cx="3014640" cy="1669922"/>
          </a:xfrm>
          <a:prstGeom prst="rect">
            <a:avLst/>
          </a:prstGeom>
        </p:spPr>
      </p:pic>
      <p:pic>
        <p:nvPicPr>
          <p:cNvPr id="21" name="Obrázek 20">
            <a:extLst>
              <a:ext uri="{FF2B5EF4-FFF2-40B4-BE49-F238E27FC236}">
                <a16:creationId xmlns:a16="http://schemas.microsoft.com/office/drawing/2014/main" id="{96DE5BBF-0FD6-7D98-CBE1-B26CBDBD8A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6060" y="6066264"/>
            <a:ext cx="4442460" cy="2458659"/>
          </a:xfrm>
          <a:prstGeom prst="rect">
            <a:avLst/>
          </a:prstGeom>
        </p:spPr>
      </p:pic>
      <p:pic>
        <p:nvPicPr>
          <p:cNvPr id="23" name="Obrázek 22">
            <a:extLst>
              <a:ext uri="{FF2B5EF4-FFF2-40B4-BE49-F238E27FC236}">
                <a16:creationId xmlns:a16="http://schemas.microsoft.com/office/drawing/2014/main" id="{BA7C7863-1599-FC88-B6BA-002BBE401A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6554" y="5005363"/>
            <a:ext cx="4191326" cy="2501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230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681935F-C5C8-9603-40A7-7A1319D54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Co je </a:t>
            </a:r>
            <a:r>
              <a:rPr lang="cs-CZ" dirty="0" err="1"/>
              <a:t>Neonexa</a:t>
            </a:r>
            <a:r>
              <a:rPr lang="cs-CZ" dirty="0"/>
              <a:t>?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589BCDD-16BB-9EEA-E1B2-7DD7000BC5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51001" y="2228671"/>
            <a:ext cx="2804294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altLang="cs-CZ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cs-CZ" altLang="cs-CZ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Žánr: </a:t>
            </a:r>
            <a:r>
              <a:rPr lang="cs-CZ" altLang="cs-CZ" sz="1800" dirty="0">
                <a:latin typeface="+mj-lt"/>
              </a:rPr>
              <a:t>Hra (</a:t>
            </a:r>
            <a:r>
              <a:rPr kumimoji="0" lang="cs-CZ" altLang="cs-CZ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Metroidvania</a:t>
            </a:r>
            <a:r>
              <a:rPr lang="cs-CZ" altLang="cs-CZ" sz="1800" dirty="0">
                <a:latin typeface="+mj-lt"/>
              </a:rPr>
              <a:t>)</a:t>
            </a:r>
            <a:endParaRPr kumimoji="0" lang="en-US" altLang="cs-CZ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cs-CZ" altLang="cs-CZ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cs-CZ" altLang="cs-CZ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Engine</a:t>
            </a:r>
            <a:r>
              <a:rPr kumimoji="0" lang="cs-CZ" altLang="cs-CZ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Godot 4</a:t>
            </a:r>
            <a:r>
              <a:rPr kumimoji="0" lang="en-US" altLang="cs-CZ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cs-CZ" altLang="cs-CZ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cs-CZ" altLang="cs-CZ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Grafika: Pixel art (</a:t>
            </a:r>
            <a:r>
              <a:rPr kumimoji="0" lang="cs-CZ" altLang="cs-CZ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Aseprite</a:t>
            </a:r>
            <a:r>
              <a:rPr kumimoji="0" lang="cs-CZ" altLang="cs-CZ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 </a:t>
            </a:r>
            <a:endParaRPr kumimoji="0" lang="en-US" altLang="cs-CZ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cs-CZ" altLang="cs-CZ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cs-CZ" altLang="cs-CZ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Hudba: </a:t>
            </a:r>
            <a:r>
              <a:rPr kumimoji="0" lang="cs-CZ" altLang="cs-CZ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Strudel</a:t>
            </a:r>
            <a:r>
              <a:rPr kumimoji="0" lang="cs-CZ" altLang="cs-CZ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(live </a:t>
            </a:r>
            <a:r>
              <a:rPr kumimoji="0" lang="cs-CZ" altLang="cs-CZ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coding</a:t>
            </a:r>
            <a:r>
              <a:rPr kumimoji="0" lang="cs-CZ" altLang="cs-CZ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048727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D501AA0-A398-4F3B-8534-D13AE3C25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Proč zrovna videohra?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8397AA5-48E2-8F17-D5FC-23EF4840B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7655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1800" dirty="0">
                <a:latin typeface="+mj-lt"/>
              </a:rPr>
              <a:t>Videohra = průnik techniky a umění</a:t>
            </a:r>
            <a:endParaRPr lang="en-US" sz="1800" dirty="0">
              <a:latin typeface="+mj-lt"/>
            </a:endParaRPr>
          </a:p>
          <a:p>
            <a:pPr marL="0" indent="0">
              <a:buNone/>
            </a:pPr>
            <a:endParaRPr lang="cs-CZ" sz="1800" dirty="0">
              <a:latin typeface="+mj-lt"/>
            </a:endParaRPr>
          </a:p>
          <a:p>
            <a:pPr marL="0" indent="0">
              <a:buNone/>
            </a:pPr>
            <a:r>
              <a:rPr lang="cs-CZ" sz="1800" dirty="0">
                <a:latin typeface="+mj-lt"/>
              </a:rPr>
              <a:t>Hudba, vizuál, příběh, kód — vše v jednom médiu</a:t>
            </a:r>
            <a:endParaRPr lang="en-US" sz="1800" dirty="0">
              <a:latin typeface="+mj-lt"/>
            </a:endParaRPr>
          </a:p>
          <a:p>
            <a:pPr marL="0" indent="0">
              <a:buNone/>
            </a:pPr>
            <a:endParaRPr lang="cs-CZ" sz="1800" dirty="0">
              <a:latin typeface="+mj-lt"/>
            </a:endParaRPr>
          </a:p>
          <a:p>
            <a:pPr marL="0" indent="0">
              <a:buNone/>
            </a:pPr>
            <a:r>
              <a:rPr lang="cs-CZ" sz="1800" dirty="0">
                <a:latin typeface="+mj-lt"/>
              </a:rPr>
              <a:t>Přirovnání k symfonickému dílu — každý prvek tvoří celek</a:t>
            </a:r>
          </a:p>
        </p:txBody>
      </p:sp>
    </p:spTree>
    <p:extLst>
      <p:ext uri="{BB962C8B-B14F-4D97-AF65-F5344CB8AC3E}">
        <p14:creationId xmlns:p14="http://schemas.microsoft.com/office/powerpoint/2010/main" val="3893254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023655C-1847-C09B-1790-05217599B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Proč Godot?</a:t>
            </a:r>
          </a:p>
        </p:txBody>
      </p:sp>
      <p:pic>
        <p:nvPicPr>
          <p:cNvPr id="4" name="image5.png">
            <a:extLst>
              <a:ext uri="{FF2B5EF4-FFF2-40B4-BE49-F238E27FC236}">
                <a16:creationId xmlns:a16="http://schemas.microsoft.com/office/drawing/2014/main" id="{763E9A0B-9619-97B6-A6FE-E0AC315B99DD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7776962" y="739979"/>
            <a:ext cx="3329767" cy="2799647"/>
          </a:xfrm>
          <a:prstGeom prst="rect">
            <a:avLst/>
          </a:prstGeom>
          <a:ln/>
        </p:spPr>
      </p:pic>
      <p:pic>
        <p:nvPicPr>
          <p:cNvPr id="5" name="image4.png">
            <a:extLst>
              <a:ext uri="{FF2B5EF4-FFF2-40B4-BE49-F238E27FC236}">
                <a16:creationId xmlns:a16="http://schemas.microsoft.com/office/drawing/2014/main" id="{4AD41C0F-4F2E-1C3D-C216-A5865437C3BC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7776962" y="3656695"/>
            <a:ext cx="3329767" cy="2799668"/>
          </a:xfrm>
          <a:prstGeom prst="rect">
            <a:avLst/>
          </a:prstGeom>
          <a:ln/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AE0AAA29-CE93-00F2-1306-E6A61A769F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85271" y="1831676"/>
            <a:ext cx="554643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cs-CZ" altLang="cs-CZ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GMTK Game Jam</a:t>
            </a: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— 7 000+ her za 48h, reálný přehled trendů </a:t>
            </a:r>
            <a:endParaRPr kumimoji="0" lang="en-US" altLang="cs-C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cs-CZ" altLang="cs-C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Godot: </a:t>
            </a:r>
            <a:r>
              <a:rPr kumimoji="0" lang="cs-CZ" altLang="cs-CZ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19 % → 37 %</a:t>
            </a: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(2023→2024) </a:t>
            </a:r>
            <a:endParaRPr kumimoji="0" lang="en-US" altLang="cs-C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cs-CZ" altLang="cs-C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Unity: </a:t>
            </a:r>
            <a:r>
              <a:rPr kumimoji="0" lang="cs-CZ" altLang="cs-CZ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59 % → 43 %</a:t>
            </a: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— Runtime </a:t>
            </a:r>
            <a:r>
              <a:rPr kumimoji="0" lang="cs-CZ" altLang="cs-CZ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Fee</a:t>
            </a: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kontroverze</a:t>
            </a:r>
            <a:endParaRPr kumimoji="0" lang="en-US" altLang="cs-C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cs-CZ" altLang="cs-CZ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Open-source</a:t>
            </a: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— žádné licenční poplatky </a:t>
            </a:r>
            <a:endParaRPr kumimoji="0" lang="en-US" altLang="cs-C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cs-CZ" altLang="cs-C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cs-CZ" altLang="cs-CZ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Node-</a:t>
            </a:r>
            <a:r>
              <a:rPr kumimoji="0" lang="cs-CZ" altLang="cs-CZ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based</a:t>
            </a:r>
            <a:r>
              <a:rPr kumimoji="0" lang="cs-CZ" altLang="cs-CZ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architektura</a:t>
            </a: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— modulární, škálovatelná </a:t>
            </a:r>
            <a:endParaRPr kumimoji="0" lang="en-US" altLang="cs-C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cs-CZ" altLang="cs-C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Aktivní a rostoucí komunita </a:t>
            </a:r>
          </a:p>
        </p:txBody>
      </p:sp>
    </p:spTree>
    <p:extLst>
      <p:ext uri="{BB962C8B-B14F-4D97-AF65-F5344CB8AC3E}">
        <p14:creationId xmlns:p14="http://schemas.microsoft.com/office/powerpoint/2010/main" val="2519679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B6517C7-9B30-DCD4-7275-0092BA3B0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Co je </a:t>
            </a:r>
            <a:r>
              <a:rPr lang="cs-CZ" dirty="0" err="1"/>
              <a:t>Metroidvania</a:t>
            </a:r>
            <a:r>
              <a:rPr lang="cs-CZ" dirty="0"/>
              <a:t>?</a:t>
            </a:r>
          </a:p>
        </p:txBody>
      </p:sp>
      <p:pic>
        <p:nvPicPr>
          <p:cNvPr id="2050" name="Picture 2" descr="Hollow Knight: Silksong">
            <a:extLst>
              <a:ext uri="{FF2B5EF4-FFF2-40B4-BE49-F238E27FC236}">
                <a16:creationId xmlns:a16="http://schemas.microsoft.com/office/drawing/2014/main" id="{011A3EEC-FB7B-F3EC-92D6-13AB91F29B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754" y="3339954"/>
            <a:ext cx="4859354" cy="273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709675BA-738E-AF72-10BE-9DB0A2837E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07339" y="2172464"/>
            <a:ext cx="498866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altLang="cs-CZ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Nelineární průzkum propojeného světa</a:t>
            </a:r>
            <a:endParaRPr kumimoji="0" lang="en-US" altLang="cs-CZ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cs-CZ" sz="1800" dirty="0"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altLang="cs-CZ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Hráč získává nové schopnosti → odemyká nové lokace</a:t>
            </a:r>
            <a:endParaRPr kumimoji="0" lang="en-US" altLang="cs-CZ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cs-CZ" sz="1800" dirty="0"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altLang="cs-CZ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Backtracking</a:t>
            </a:r>
            <a:r>
              <a:rPr kumimoji="0" lang="cs-CZ" altLang="cs-CZ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— vracení do starých oblastí</a:t>
            </a:r>
            <a:endParaRPr kumimoji="0" lang="en-US" altLang="cs-CZ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cs-CZ" sz="1800" dirty="0"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altLang="cs-CZ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Inspirace: </a:t>
            </a:r>
            <a:r>
              <a:rPr kumimoji="0" lang="cs-CZ" altLang="cs-CZ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Metroid</a:t>
            </a:r>
            <a:r>
              <a:rPr kumimoji="0" lang="cs-CZ" altLang="cs-CZ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(1986), </a:t>
            </a:r>
            <a:r>
              <a:rPr kumimoji="0" lang="cs-CZ" altLang="cs-CZ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Castlevania</a:t>
            </a:r>
            <a:r>
              <a:rPr kumimoji="0" lang="cs-CZ" altLang="cs-CZ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cs-CZ" altLang="cs-CZ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SotN</a:t>
            </a:r>
            <a:r>
              <a:rPr kumimoji="0" lang="cs-CZ" altLang="cs-CZ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(1997)</a:t>
            </a:r>
            <a:br>
              <a:rPr kumimoji="0" lang="en-US" altLang="cs-CZ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br>
              <a:rPr kumimoji="0" lang="en-US" altLang="cs-CZ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cs-CZ" altLang="cs-CZ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Moderní příklady: </a:t>
            </a:r>
            <a:r>
              <a:rPr kumimoji="0" lang="cs-CZ" altLang="cs-CZ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Hollow</a:t>
            </a:r>
            <a:r>
              <a:rPr kumimoji="0" lang="cs-CZ" altLang="cs-CZ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cs-CZ" altLang="cs-CZ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Knight</a:t>
            </a:r>
            <a:r>
              <a:rPr kumimoji="0" lang="cs-CZ" altLang="cs-CZ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cs-CZ" altLang="cs-CZ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Blasphemous</a:t>
            </a:r>
            <a:endParaRPr kumimoji="0" lang="cs-CZ" altLang="cs-CZ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2053" name="Picture 5" descr="Blasphemous">
            <a:extLst>
              <a:ext uri="{FF2B5EF4-FFF2-40B4-BE49-F238E27FC236}">
                <a16:creationId xmlns:a16="http://schemas.microsoft.com/office/drawing/2014/main" id="{51E8A230-E6CD-B914-F311-33C8766898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8236" y="733835"/>
            <a:ext cx="4105564" cy="2309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0253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697B84F-0452-5273-FE94-62349B8D9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State</a:t>
            </a:r>
            <a:r>
              <a:rPr lang="cs-CZ" dirty="0"/>
              <a:t> </a:t>
            </a:r>
            <a:r>
              <a:rPr lang="cs-CZ" dirty="0" err="1"/>
              <a:t>Machine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DE10740-ECF4-CABF-1E61-6A3FEAEBB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1399" y="2021464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1800" dirty="0">
                <a:latin typeface="+mj-lt"/>
              </a:rPr>
              <a:t>Centrální řídicí mechanismus hráče i nepřátel</a:t>
            </a:r>
            <a:endParaRPr lang="en-US" sz="1800" dirty="0">
              <a:latin typeface="+mj-lt"/>
            </a:endParaRPr>
          </a:p>
          <a:p>
            <a:pPr marL="0" indent="0">
              <a:buNone/>
            </a:pPr>
            <a:endParaRPr lang="en-US" sz="1800" dirty="0">
              <a:latin typeface="+mj-lt"/>
            </a:endParaRPr>
          </a:p>
          <a:p>
            <a:pPr marL="0" indent="0">
              <a:buNone/>
            </a:pPr>
            <a:r>
              <a:rPr lang="cs-CZ" sz="1800" dirty="0">
                <a:latin typeface="+mj-lt"/>
              </a:rPr>
              <a:t>Každý stav = jedna zodpovědnost (běh, skok, útok, smrt…)</a:t>
            </a:r>
            <a:endParaRPr lang="en-US" sz="1800" dirty="0">
              <a:latin typeface="+mj-lt"/>
            </a:endParaRPr>
          </a:p>
          <a:p>
            <a:pPr marL="0" indent="0">
              <a:buNone/>
            </a:pPr>
            <a:endParaRPr lang="en-US" sz="1800" dirty="0">
              <a:latin typeface="+mj-lt"/>
            </a:endParaRPr>
          </a:p>
          <a:p>
            <a:pPr marL="0" indent="0">
              <a:buNone/>
            </a:pPr>
            <a:r>
              <a:rPr lang="cs-CZ" sz="1800" dirty="0">
                <a:latin typeface="+mj-lt"/>
              </a:rPr>
              <a:t>4 metody: enter() · update() · </a:t>
            </a:r>
            <a:r>
              <a:rPr lang="cs-CZ" sz="1800" dirty="0" err="1">
                <a:latin typeface="+mj-lt"/>
              </a:rPr>
              <a:t>physics_update</a:t>
            </a:r>
            <a:r>
              <a:rPr lang="cs-CZ" sz="1800" dirty="0">
                <a:latin typeface="+mj-lt"/>
              </a:rPr>
              <a:t>() · exit()</a:t>
            </a:r>
            <a:endParaRPr lang="en-US" sz="1800" dirty="0">
              <a:latin typeface="+mj-lt"/>
            </a:endParaRPr>
          </a:p>
          <a:p>
            <a:pPr marL="0" indent="0">
              <a:buNone/>
            </a:pPr>
            <a:endParaRPr lang="en-US" sz="1800" dirty="0">
              <a:latin typeface="+mj-lt"/>
            </a:endParaRPr>
          </a:p>
          <a:p>
            <a:pPr marL="0" indent="0">
              <a:buNone/>
            </a:pPr>
            <a:r>
              <a:rPr lang="cs-CZ" sz="1800" dirty="0">
                <a:latin typeface="+mj-lt"/>
              </a:rPr>
              <a:t>Přechody přes signály nebo vstup hráče</a:t>
            </a:r>
            <a:endParaRPr lang="en-US" sz="1800" dirty="0">
              <a:latin typeface="+mj-lt"/>
            </a:endParaRPr>
          </a:p>
          <a:p>
            <a:pPr marL="0" indent="0">
              <a:buNone/>
            </a:pPr>
            <a:endParaRPr lang="en-US" sz="1800" dirty="0">
              <a:latin typeface="+mj-lt"/>
            </a:endParaRPr>
          </a:p>
          <a:p>
            <a:pPr marL="0" indent="0">
              <a:buNone/>
            </a:pPr>
            <a:r>
              <a:rPr lang="cs-CZ" sz="1800" dirty="0">
                <a:latin typeface="+mj-lt"/>
              </a:rPr>
              <a:t>Výsledek: přidání nového chování = nový stav, ne </a:t>
            </a:r>
            <a:r>
              <a:rPr lang="cs-CZ" sz="1800" dirty="0" err="1">
                <a:latin typeface="+mj-lt"/>
              </a:rPr>
              <a:t>refactor</a:t>
            </a:r>
            <a:endParaRPr lang="cs-CZ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62156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FA98597-D84B-76C3-A34F-F997FB0BE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8943"/>
            <a:ext cx="10515600" cy="1325563"/>
          </a:xfrm>
        </p:spPr>
        <p:txBody>
          <a:bodyPr/>
          <a:lstStyle/>
          <a:p>
            <a:r>
              <a:rPr lang="cs-CZ" dirty="0"/>
              <a:t>UI + </a:t>
            </a:r>
            <a:r>
              <a:rPr lang="cs-CZ" dirty="0" err="1"/>
              <a:t>Singletony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C67E948-25EA-0B91-BB4C-BEA666CBB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8346" y="1644939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cs-CZ" sz="1800" dirty="0" err="1"/>
              <a:t>State</a:t>
            </a:r>
            <a:r>
              <a:rPr lang="cs-CZ" sz="1800" dirty="0"/>
              <a:t> </a:t>
            </a:r>
            <a:r>
              <a:rPr lang="cs-CZ" sz="1800" dirty="0" err="1"/>
              <a:t>machine</a:t>
            </a:r>
            <a:r>
              <a:rPr lang="cs-CZ" sz="1800" dirty="0"/>
              <a:t> → </a:t>
            </a:r>
            <a:r>
              <a:rPr lang="cs-CZ" sz="1800" dirty="0" err="1"/>
              <a:t>freeze</a:t>
            </a:r>
            <a:r>
              <a:rPr lang="cs-CZ" sz="1800" dirty="0"/>
              <a:t> </a:t>
            </a:r>
            <a:r>
              <a:rPr lang="cs-CZ" sz="1800" dirty="0" err="1"/>
              <a:t>state</a:t>
            </a:r>
            <a:r>
              <a:rPr lang="cs-CZ" sz="1800" dirty="0"/>
              <a:t>, hurt </a:t>
            </a:r>
            <a:r>
              <a:rPr lang="cs-CZ" sz="1800" dirty="0" err="1"/>
              <a:t>state</a:t>
            </a:r>
            <a:r>
              <a:rPr lang="cs-CZ" sz="1800" dirty="0"/>
              <a:t>.</a:t>
            </a:r>
          </a:p>
          <a:p>
            <a:r>
              <a:rPr lang="cs-CZ" sz="1800" dirty="0" err="1"/>
              <a:t>Main</a:t>
            </a:r>
            <a:r>
              <a:rPr lang="cs-CZ" sz="1800" dirty="0"/>
              <a:t> </a:t>
            </a:r>
            <a:r>
              <a:rPr lang="cs-CZ" sz="1800" dirty="0" err="1"/>
              <a:t>player</a:t>
            </a:r>
            <a:r>
              <a:rPr lang="cs-CZ" sz="1800" dirty="0"/>
              <a:t> </a:t>
            </a:r>
            <a:r>
              <a:rPr lang="cs-CZ" sz="1800" dirty="0" err="1"/>
              <a:t>assets</a:t>
            </a:r>
            <a:r>
              <a:rPr lang="cs-CZ" sz="1800" dirty="0"/>
              <a:t> + </a:t>
            </a:r>
            <a:r>
              <a:rPr lang="cs-CZ" sz="1800" dirty="0" err="1"/>
              <a:t>animations</a:t>
            </a:r>
            <a:endParaRPr lang="cs-CZ" sz="1800" dirty="0"/>
          </a:p>
          <a:p>
            <a:r>
              <a:rPr lang="cs-CZ" sz="1800" dirty="0" err="1"/>
              <a:t>new</a:t>
            </a:r>
            <a:r>
              <a:rPr lang="cs-CZ" sz="1800" dirty="0"/>
              <a:t> </a:t>
            </a:r>
            <a:r>
              <a:rPr lang="cs-CZ" sz="1800" dirty="0" err="1"/>
              <a:t>npcs</a:t>
            </a:r>
            <a:r>
              <a:rPr lang="cs-CZ" sz="1800" dirty="0"/>
              <a:t>, </a:t>
            </a:r>
            <a:r>
              <a:rPr lang="cs-CZ" sz="1800" dirty="0" err="1"/>
              <a:t>updated</a:t>
            </a:r>
            <a:r>
              <a:rPr lang="cs-CZ" sz="1800" dirty="0"/>
              <a:t> </a:t>
            </a:r>
            <a:r>
              <a:rPr lang="cs-CZ" sz="1800" dirty="0" err="1"/>
              <a:t>dialogue</a:t>
            </a:r>
            <a:r>
              <a:rPr lang="cs-CZ" sz="1800" dirty="0"/>
              <a:t> and </a:t>
            </a:r>
            <a:r>
              <a:rPr lang="cs-CZ" sz="1800" dirty="0" err="1"/>
              <a:t>interactvie</a:t>
            </a:r>
            <a:r>
              <a:rPr lang="cs-CZ" sz="1800" dirty="0"/>
              <a:t> manager</a:t>
            </a:r>
          </a:p>
          <a:p>
            <a:r>
              <a:rPr lang="cs-CZ" sz="1800" dirty="0" err="1"/>
              <a:t>new</a:t>
            </a:r>
            <a:r>
              <a:rPr lang="cs-CZ" sz="1800" dirty="0"/>
              <a:t> tile set and </a:t>
            </a:r>
            <a:r>
              <a:rPr lang="cs-CZ" sz="1800" dirty="0" err="1"/>
              <a:t>sprites</a:t>
            </a:r>
            <a:r>
              <a:rPr lang="cs-CZ" sz="1800" dirty="0"/>
              <a:t> + </a:t>
            </a:r>
            <a:r>
              <a:rPr lang="cs-CZ" sz="1800" dirty="0" err="1"/>
              <a:t>compleley</a:t>
            </a:r>
            <a:r>
              <a:rPr lang="cs-CZ" sz="1800" dirty="0"/>
              <a:t> </a:t>
            </a:r>
            <a:r>
              <a:rPr lang="cs-CZ" sz="1800" dirty="0" err="1"/>
              <a:t>new</a:t>
            </a:r>
            <a:r>
              <a:rPr lang="cs-CZ" sz="1800" dirty="0"/>
              <a:t> menu</a:t>
            </a:r>
          </a:p>
          <a:p>
            <a:r>
              <a:rPr lang="cs-CZ" sz="1800" dirty="0" err="1"/>
              <a:t>settings</a:t>
            </a:r>
            <a:r>
              <a:rPr lang="cs-CZ" sz="1800" dirty="0"/>
              <a:t>, </a:t>
            </a:r>
            <a:r>
              <a:rPr lang="cs-CZ" sz="1800" dirty="0" err="1"/>
              <a:t>death</a:t>
            </a:r>
            <a:r>
              <a:rPr lang="cs-CZ" sz="1800" dirty="0"/>
              <a:t> </a:t>
            </a:r>
            <a:r>
              <a:rPr lang="cs-CZ" sz="1800" dirty="0" err="1"/>
              <a:t>screen</a:t>
            </a:r>
            <a:r>
              <a:rPr lang="cs-CZ" sz="1800" dirty="0"/>
              <a:t>, </a:t>
            </a:r>
            <a:r>
              <a:rPr lang="cs-CZ" sz="1800" dirty="0" err="1"/>
              <a:t>hp</a:t>
            </a:r>
            <a:r>
              <a:rPr lang="cs-CZ" sz="1800" dirty="0"/>
              <a:t> bar</a:t>
            </a:r>
          </a:p>
          <a:p>
            <a:r>
              <a:rPr lang="cs-CZ" sz="1800" dirty="0" err="1"/>
              <a:t>inventory</a:t>
            </a:r>
            <a:r>
              <a:rPr lang="cs-CZ" sz="1800" dirty="0"/>
              <a:t> manager</a:t>
            </a:r>
          </a:p>
          <a:p>
            <a:r>
              <a:rPr lang="cs-CZ" sz="1800" dirty="0"/>
              <a:t>level manager</a:t>
            </a:r>
          </a:p>
          <a:p>
            <a:r>
              <a:rPr lang="cs-CZ" sz="1800" dirty="0" err="1"/>
              <a:t>camera</a:t>
            </a:r>
            <a:r>
              <a:rPr lang="cs-CZ" sz="1800" dirty="0"/>
              <a:t> management + </a:t>
            </a:r>
            <a:r>
              <a:rPr lang="cs-CZ" sz="1800" dirty="0" err="1"/>
              <a:t>camera</a:t>
            </a:r>
            <a:r>
              <a:rPr lang="cs-CZ" sz="1800" dirty="0"/>
              <a:t> </a:t>
            </a:r>
            <a:r>
              <a:rPr lang="cs-CZ" sz="1800" dirty="0" err="1"/>
              <a:t>zony</a:t>
            </a:r>
            <a:r>
              <a:rPr lang="cs-CZ" sz="1800" dirty="0"/>
              <a:t>.</a:t>
            </a:r>
          </a:p>
          <a:p>
            <a:r>
              <a:rPr lang="cs-CZ" sz="1800" dirty="0"/>
              <a:t>last </a:t>
            </a:r>
            <a:r>
              <a:rPr lang="cs-CZ" sz="1800" dirty="0" err="1"/>
              <a:t>position</a:t>
            </a:r>
            <a:r>
              <a:rPr lang="cs-CZ" sz="1800" dirty="0"/>
              <a:t> </a:t>
            </a:r>
            <a:r>
              <a:rPr lang="cs-CZ" sz="1800" dirty="0" err="1"/>
              <a:t>spawn</a:t>
            </a:r>
            <a:r>
              <a:rPr lang="cs-CZ" sz="1800" dirty="0"/>
              <a:t> </a:t>
            </a:r>
            <a:r>
              <a:rPr lang="cs-CZ" sz="1800" dirty="0" err="1"/>
              <a:t>when</a:t>
            </a:r>
            <a:r>
              <a:rPr lang="cs-CZ" sz="1800" dirty="0"/>
              <a:t> </a:t>
            </a:r>
            <a:r>
              <a:rPr lang="cs-CZ" sz="1800" dirty="0" err="1"/>
              <a:t>collided</a:t>
            </a:r>
            <a:r>
              <a:rPr lang="cs-CZ" sz="1800" dirty="0"/>
              <a:t> </a:t>
            </a:r>
            <a:r>
              <a:rPr lang="cs-CZ" sz="1800" dirty="0" err="1"/>
              <a:t>with</a:t>
            </a:r>
            <a:r>
              <a:rPr lang="cs-CZ" sz="1800" dirty="0"/>
              <a:t> hurt area, </a:t>
            </a:r>
            <a:r>
              <a:rPr lang="cs-CZ" sz="1800" dirty="0" err="1"/>
              <a:t>raycasts</a:t>
            </a:r>
            <a:r>
              <a:rPr lang="cs-CZ" sz="1800" dirty="0"/>
              <a:t>.</a:t>
            </a:r>
          </a:p>
          <a:p>
            <a:r>
              <a:rPr lang="cs-CZ" sz="1800" dirty="0" err="1"/>
              <a:t>raycasts</a:t>
            </a:r>
            <a:r>
              <a:rPr lang="cs-CZ" sz="1800" dirty="0"/>
              <a:t> on </a:t>
            </a:r>
            <a:r>
              <a:rPr lang="cs-CZ" sz="1800" dirty="0" err="1"/>
              <a:t>sholders</a:t>
            </a:r>
            <a:r>
              <a:rPr lang="cs-CZ" sz="1800" dirty="0"/>
              <a:t>,</a:t>
            </a:r>
          </a:p>
          <a:p>
            <a:r>
              <a:rPr lang="cs-CZ" sz="1800" dirty="0" err="1"/>
              <a:t>shaders</a:t>
            </a:r>
            <a:r>
              <a:rPr lang="cs-CZ" sz="1800" dirty="0"/>
              <a:t>, </a:t>
            </a:r>
            <a:r>
              <a:rPr lang="cs-CZ" sz="1800" dirty="0" err="1"/>
              <a:t>water</a:t>
            </a:r>
            <a:r>
              <a:rPr lang="cs-CZ" sz="1800" dirty="0"/>
              <a:t>, </a:t>
            </a:r>
            <a:r>
              <a:rPr lang="cs-CZ" sz="1800" dirty="0" err="1"/>
              <a:t>light</a:t>
            </a:r>
            <a:endParaRPr lang="cs-CZ" sz="1800" dirty="0"/>
          </a:p>
          <a:p>
            <a:r>
              <a:rPr lang="cs-CZ" sz="1800" dirty="0" err="1"/>
              <a:t>particles</a:t>
            </a:r>
            <a:endParaRPr lang="cs-CZ" sz="1800" dirty="0"/>
          </a:p>
          <a:p>
            <a:r>
              <a:rPr lang="cs-CZ" sz="1800" dirty="0" err="1"/>
              <a:t>new</a:t>
            </a:r>
            <a:r>
              <a:rPr lang="cs-CZ" sz="1800" dirty="0"/>
              <a:t> </a:t>
            </a:r>
            <a:r>
              <a:rPr lang="cs-CZ" sz="1800" dirty="0" err="1"/>
              <a:t>movement</a:t>
            </a:r>
            <a:endParaRPr lang="cs-CZ" sz="1800" dirty="0"/>
          </a:p>
          <a:p>
            <a:r>
              <a:rPr lang="cs-CZ" sz="1800" dirty="0" err="1"/>
              <a:t>mario</a:t>
            </a:r>
            <a:r>
              <a:rPr lang="cs-CZ" sz="1800" dirty="0"/>
              <a:t> </a:t>
            </a:r>
            <a:r>
              <a:rPr lang="cs-CZ" sz="1800" dirty="0" err="1"/>
              <a:t>jump</a:t>
            </a:r>
            <a:endParaRPr lang="cs-CZ" sz="1800" dirty="0"/>
          </a:p>
          <a:p>
            <a:r>
              <a:rPr lang="cs-CZ" sz="1800" dirty="0" err="1"/>
              <a:t>platformes</a:t>
            </a:r>
            <a:endParaRPr lang="cs-CZ" sz="1800" dirty="0"/>
          </a:p>
        </p:txBody>
      </p:sp>
    </p:spTree>
    <p:extLst>
      <p:ext uri="{BB962C8B-B14F-4D97-AF65-F5344CB8AC3E}">
        <p14:creationId xmlns:p14="http://schemas.microsoft.com/office/powerpoint/2010/main" val="3172939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1C176C2-9C88-3ACE-648D-94E21B734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Art </a:t>
            </a:r>
            <a:r>
              <a:rPr lang="cs-CZ" dirty="0" err="1"/>
              <a:t>Pipeline</a:t>
            </a:r>
            <a:r>
              <a:rPr lang="cs-CZ" dirty="0"/>
              <a:t> + Hudba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72F047E-7EC3-1B27-0617-2315BCA0F0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61473" y="1757288"/>
            <a:ext cx="530446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cs-CZ" altLang="cs-CZ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Aseprite</a:t>
            </a: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— návrh → animace → export do </a:t>
            </a:r>
            <a:r>
              <a:rPr kumimoji="0" lang="cs-CZ" altLang="cs-CZ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spritesheetu</a:t>
            </a:r>
            <a:endParaRPr kumimoji="0" lang="en-US" altLang="cs-C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cs-CZ" altLang="cs-CZ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Krita</a:t>
            </a: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— </a:t>
            </a:r>
            <a:r>
              <a:rPr kumimoji="0" lang="cs-CZ" altLang="cs-CZ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concept</a:t>
            </a: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art a návrhy </a:t>
            </a:r>
            <a:endParaRPr kumimoji="0" lang="en-US" altLang="cs-C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cs-CZ" altLang="cs-C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cs-CZ" altLang="cs-CZ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Artbook</a:t>
            </a: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dostupný na </a:t>
            </a:r>
            <a:r>
              <a:rPr kumimoji="0" lang="cs-CZ" altLang="cs-CZ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Figmě</a:t>
            </a: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endParaRPr kumimoji="0" lang="en-US" altLang="cs-C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cs-CZ" altLang="cs-C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Hudba: </a:t>
            </a:r>
            <a:r>
              <a:rPr kumimoji="0" lang="cs-CZ" altLang="cs-CZ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Strudel</a:t>
            </a: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— webový live </a:t>
            </a:r>
            <a:r>
              <a:rPr kumimoji="0" lang="cs-CZ" altLang="cs-CZ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coding</a:t>
            </a: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nástroj </a:t>
            </a:r>
            <a:endParaRPr kumimoji="0" lang="en-US" altLang="cs-C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cs-CZ" altLang="cs-C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Export hudby: nahrávání přes </a:t>
            </a:r>
            <a:r>
              <a:rPr kumimoji="0" lang="cs-CZ" altLang="cs-CZ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OBS</a:t>
            </a: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→ převod do WAV </a:t>
            </a:r>
          </a:p>
        </p:txBody>
      </p:sp>
    </p:spTree>
    <p:extLst>
      <p:ext uri="{BB962C8B-B14F-4D97-AF65-F5344CB8AC3E}">
        <p14:creationId xmlns:p14="http://schemas.microsoft.com/office/powerpoint/2010/main" val="3448916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bdélník 32">
            <a:extLst>
              <a:ext uri="{FF2B5EF4-FFF2-40B4-BE49-F238E27FC236}">
                <a16:creationId xmlns:a16="http://schemas.microsoft.com/office/drawing/2014/main" id="{6D3974C6-2734-4859-85A1-EEE980036E8E}"/>
              </a:ext>
            </a:extLst>
          </p:cNvPr>
          <p:cNvSpPr/>
          <p:nvPr/>
        </p:nvSpPr>
        <p:spPr>
          <a:xfrm>
            <a:off x="3904654" y="1005690"/>
            <a:ext cx="8134350" cy="183104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E0BA6C25-06FA-61E6-477A-3572CF269D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" y="101600"/>
            <a:ext cx="609600" cy="304800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8D5DCC0C-3CBC-FAE4-2E96-6DC9197411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250" y="177800"/>
            <a:ext cx="2514600" cy="228600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67D536E3-5868-D616-7C33-C0B8AF6F85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" y="406400"/>
            <a:ext cx="3048000" cy="609600"/>
          </a:xfrm>
          <a:prstGeom prst="rect">
            <a:avLst/>
          </a:prstGeom>
        </p:spPr>
      </p:pic>
      <p:pic>
        <p:nvPicPr>
          <p:cNvPr id="11" name="Obrázek 10">
            <a:extLst>
              <a:ext uri="{FF2B5EF4-FFF2-40B4-BE49-F238E27FC236}">
                <a16:creationId xmlns:a16="http://schemas.microsoft.com/office/drawing/2014/main" id="{4E2461A6-0674-5771-EA0E-6DFA2F4546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950" y="177800"/>
            <a:ext cx="6096000" cy="609600"/>
          </a:xfrm>
          <a:prstGeom prst="rect">
            <a:avLst/>
          </a:prstGeom>
        </p:spPr>
      </p:pic>
      <p:pic>
        <p:nvPicPr>
          <p:cNvPr id="13" name="Obrázek 12">
            <a:extLst>
              <a:ext uri="{FF2B5EF4-FFF2-40B4-BE49-F238E27FC236}">
                <a16:creationId xmlns:a16="http://schemas.microsoft.com/office/drawing/2014/main" id="{2590BD7A-DDD7-8A5E-6329-979C050FC4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5950" y="254000"/>
            <a:ext cx="1371600" cy="304800"/>
          </a:xfrm>
          <a:prstGeom prst="rect">
            <a:avLst/>
          </a:prstGeom>
        </p:spPr>
      </p:pic>
      <p:pic>
        <p:nvPicPr>
          <p:cNvPr id="15" name="Obrázek 14">
            <a:extLst>
              <a:ext uri="{FF2B5EF4-FFF2-40B4-BE49-F238E27FC236}">
                <a16:creationId xmlns:a16="http://schemas.microsoft.com/office/drawing/2014/main" id="{B4E25A42-2DAE-FA63-2608-90B79FC7235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" y="1039812"/>
            <a:ext cx="2247900" cy="561975"/>
          </a:xfrm>
          <a:prstGeom prst="rect">
            <a:avLst/>
          </a:prstGeom>
        </p:spPr>
      </p:pic>
      <p:pic>
        <p:nvPicPr>
          <p:cNvPr id="20" name="Obrázek 19">
            <a:extLst>
              <a:ext uri="{FF2B5EF4-FFF2-40B4-BE49-F238E27FC236}">
                <a16:creationId xmlns:a16="http://schemas.microsoft.com/office/drawing/2014/main" id="{1A3B7BAC-8FE5-C7FC-76DD-5BA202C5E9A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5580" y="1407284"/>
            <a:ext cx="3778250" cy="419806"/>
          </a:xfrm>
          <a:prstGeom prst="rect">
            <a:avLst/>
          </a:prstGeom>
        </p:spPr>
      </p:pic>
      <p:pic>
        <p:nvPicPr>
          <p:cNvPr id="22" name="Obrázek 21">
            <a:extLst>
              <a:ext uri="{FF2B5EF4-FFF2-40B4-BE49-F238E27FC236}">
                <a16:creationId xmlns:a16="http://schemas.microsoft.com/office/drawing/2014/main" id="{8B087502-6C2A-E5DA-EA14-B23336A3F28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7079" y="1115885"/>
            <a:ext cx="3528218" cy="3528218"/>
          </a:xfrm>
          <a:prstGeom prst="rect">
            <a:avLst/>
          </a:prstGeom>
        </p:spPr>
      </p:pic>
      <p:pic>
        <p:nvPicPr>
          <p:cNvPr id="24" name="Obrázek 23">
            <a:extLst>
              <a:ext uri="{FF2B5EF4-FFF2-40B4-BE49-F238E27FC236}">
                <a16:creationId xmlns:a16="http://schemas.microsoft.com/office/drawing/2014/main" id="{1A0BB153-D98E-125C-2FA1-B55ABF5EB1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5930" y="1827090"/>
            <a:ext cx="6057900" cy="673100"/>
          </a:xfrm>
          <a:prstGeom prst="rect">
            <a:avLst/>
          </a:prstGeom>
        </p:spPr>
      </p:pic>
      <p:pic>
        <p:nvPicPr>
          <p:cNvPr id="28" name="Obrázek 27">
            <a:extLst>
              <a:ext uri="{FF2B5EF4-FFF2-40B4-BE49-F238E27FC236}">
                <a16:creationId xmlns:a16="http://schemas.microsoft.com/office/drawing/2014/main" id="{EE437B1F-6E07-F599-E5CC-4C9FF0F88E3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329" y="2923249"/>
            <a:ext cx="7429500" cy="247650"/>
          </a:xfrm>
          <a:prstGeom prst="rect">
            <a:avLst/>
          </a:prstGeom>
        </p:spPr>
      </p:pic>
      <p:pic>
        <p:nvPicPr>
          <p:cNvPr id="30" name="Obrázek 29">
            <a:extLst>
              <a:ext uri="{FF2B5EF4-FFF2-40B4-BE49-F238E27FC236}">
                <a16:creationId xmlns:a16="http://schemas.microsoft.com/office/drawing/2014/main" id="{5D5C706B-7F6C-0330-6B61-A29DB5E0DA6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" y="3343918"/>
            <a:ext cx="12192000" cy="203200"/>
          </a:xfrm>
          <a:prstGeom prst="rect">
            <a:avLst/>
          </a:prstGeom>
        </p:spPr>
      </p:pic>
      <p:pic>
        <p:nvPicPr>
          <p:cNvPr id="32" name="Obrázek 31">
            <a:extLst>
              <a:ext uri="{FF2B5EF4-FFF2-40B4-BE49-F238E27FC236}">
                <a16:creationId xmlns:a16="http://schemas.microsoft.com/office/drawing/2014/main" id="{F737259D-8E24-7255-F7A8-EF355F4626D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" y="3674118"/>
            <a:ext cx="12192000" cy="290286"/>
          </a:xfrm>
          <a:prstGeom prst="rect">
            <a:avLst/>
          </a:prstGeom>
        </p:spPr>
      </p:pic>
      <p:pic>
        <p:nvPicPr>
          <p:cNvPr id="35" name="Obrázek 34">
            <a:extLst>
              <a:ext uri="{FF2B5EF4-FFF2-40B4-BE49-F238E27FC236}">
                <a16:creationId xmlns:a16="http://schemas.microsoft.com/office/drawing/2014/main" id="{AEA8A95C-74BA-C68A-3301-2EEDA765F06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50" y="2389849"/>
            <a:ext cx="609600" cy="304800"/>
          </a:xfrm>
          <a:prstGeom prst="rect">
            <a:avLst/>
          </a:prstGeom>
        </p:spPr>
      </p:pic>
      <p:pic>
        <p:nvPicPr>
          <p:cNvPr id="39" name="Obrázek 38">
            <a:extLst>
              <a:ext uri="{FF2B5EF4-FFF2-40B4-BE49-F238E27FC236}">
                <a16:creationId xmlns:a16="http://schemas.microsoft.com/office/drawing/2014/main" id="{D332A66F-7513-2435-F1AA-01DAE57E65D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13030"/>
            <a:ext cx="3657600" cy="2057400"/>
          </a:xfrm>
          <a:prstGeom prst="rect">
            <a:avLst/>
          </a:prstGeom>
        </p:spPr>
      </p:pic>
      <p:pic>
        <p:nvPicPr>
          <p:cNvPr id="41" name="Obrázek 40">
            <a:extLst>
              <a:ext uri="{FF2B5EF4-FFF2-40B4-BE49-F238E27FC236}">
                <a16:creationId xmlns:a16="http://schemas.microsoft.com/office/drawing/2014/main" id="{777D289D-55FE-3875-FCD3-E05A20A0A69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13030"/>
            <a:ext cx="3657600" cy="2057400"/>
          </a:xfrm>
          <a:prstGeom prst="rect">
            <a:avLst/>
          </a:prstGeom>
        </p:spPr>
      </p:pic>
      <p:pic>
        <p:nvPicPr>
          <p:cNvPr id="43" name="Obrázek 42">
            <a:extLst>
              <a:ext uri="{FF2B5EF4-FFF2-40B4-BE49-F238E27FC236}">
                <a16:creationId xmlns:a16="http://schemas.microsoft.com/office/drawing/2014/main" id="{06BE727B-DEF4-206B-9BBB-5C03038C517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0" y="4913030"/>
            <a:ext cx="3657600" cy="2057400"/>
          </a:xfrm>
          <a:prstGeom prst="rect">
            <a:avLst/>
          </a:prstGeom>
        </p:spPr>
      </p:pic>
      <p:pic>
        <p:nvPicPr>
          <p:cNvPr id="45" name="Obrázek 44">
            <a:extLst>
              <a:ext uri="{FF2B5EF4-FFF2-40B4-BE49-F238E27FC236}">
                <a16:creationId xmlns:a16="http://schemas.microsoft.com/office/drawing/2014/main" id="{85C40534-BACE-3301-99A5-04AB7743B07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9556" y="5465503"/>
            <a:ext cx="2492587" cy="1402080"/>
          </a:xfrm>
          <a:prstGeom prst="rect">
            <a:avLst/>
          </a:prstGeom>
        </p:spPr>
      </p:pic>
      <p:pic>
        <p:nvPicPr>
          <p:cNvPr id="48" name="Obrázek 47">
            <a:extLst>
              <a:ext uri="{FF2B5EF4-FFF2-40B4-BE49-F238E27FC236}">
                <a16:creationId xmlns:a16="http://schemas.microsoft.com/office/drawing/2014/main" id="{32509144-43A1-497D-72B6-5849416B5CD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1563" y="1748435"/>
            <a:ext cx="1867950" cy="1867950"/>
          </a:xfrm>
          <a:prstGeom prst="rect">
            <a:avLst/>
          </a:prstGeom>
        </p:spPr>
      </p:pic>
      <p:pic>
        <p:nvPicPr>
          <p:cNvPr id="50" name="Obrázek 49">
            <a:extLst>
              <a:ext uri="{FF2B5EF4-FFF2-40B4-BE49-F238E27FC236}">
                <a16:creationId xmlns:a16="http://schemas.microsoft.com/office/drawing/2014/main" id="{BF78C20A-1CEC-AEB7-073F-7A32C72CEDC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7746" y="4153220"/>
            <a:ext cx="2704780" cy="2704780"/>
          </a:xfrm>
          <a:prstGeom prst="rect">
            <a:avLst/>
          </a:prstGeom>
        </p:spPr>
      </p:pic>
      <p:pic>
        <p:nvPicPr>
          <p:cNvPr id="52" name="Obrázek 51">
            <a:extLst>
              <a:ext uri="{FF2B5EF4-FFF2-40B4-BE49-F238E27FC236}">
                <a16:creationId xmlns:a16="http://schemas.microsoft.com/office/drawing/2014/main" id="{E402A4D6-C98D-21EF-40C4-0EAD154A53C3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250" y="4300315"/>
            <a:ext cx="1133390" cy="637532"/>
          </a:xfrm>
          <a:prstGeom prst="rect">
            <a:avLst/>
          </a:prstGeom>
        </p:spPr>
      </p:pic>
      <p:pic>
        <p:nvPicPr>
          <p:cNvPr id="54" name="Obrázek 53">
            <a:extLst>
              <a:ext uri="{FF2B5EF4-FFF2-40B4-BE49-F238E27FC236}">
                <a16:creationId xmlns:a16="http://schemas.microsoft.com/office/drawing/2014/main" id="{32A6ED9E-4C33-67D3-011C-BCD1E9C59C3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3610" y="4345713"/>
            <a:ext cx="1225883" cy="689559"/>
          </a:xfrm>
          <a:prstGeom prst="rect">
            <a:avLst/>
          </a:prstGeom>
        </p:spPr>
      </p:pic>
      <p:pic>
        <p:nvPicPr>
          <p:cNvPr id="56" name="Obrázek 55">
            <a:extLst>
              <a:ext uri="{FF2B5EF4-FFF2-40B4-BE49-F238E27FC236}">
                <a16:creationId xmlns:a16="http://schemas.microsoft.com/office/drawing/2014/main" id="{F787783D-0C68-A2C6-2404-CE3BA0C8E3C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43" y="4234526"/>
            <a:ext cx="1456274" cy="819154"/>
          </a:xfrm>
          <a:prstGeom prst="rect">
            <a:avLst/>
          </a:prstGeom>
        </p:spPr>
      </p:pic>
      <p:pic>
        <p:nvPicPr>
          <p:cNvPr id="58" name="Obrázek 57">
            <a:extLst>
              <a:ext uri="{FF2B5EF4-FFF2-40B4-BE49-F238E27FC236}">
                <a16:creationId xmlns:a16="http://schemas.microsoft.com/office/drawing/2014/main" id="{D8175EF6-7B53-A12C-E6EB-F915809E1D4F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7673" y="4002448"/>
            <a:ext cx="1618812" cy="910582"/>
          </a:xfrm>
          <a:prstGeom prst="rect">
            <a:avLst/>
          </a:prstGeom>
        </p:spPr>
      </p:pic>
      <p:pic>
        <p:nvPicPr>
          <p:cNvPr id="60" name="Obrázek 59">
            <a:extLst>
              <a:ext uri="{FF2B5EF4-FFF2-40B4-BE49-F238E27FC236}">
                <a16:creationId xmlns:a16="http://schemas.microsoft.com/office/drawing/2014/main" id="{E5782589-16E4-CF08-A2AC-A50A1FF7685D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2062" y="4869826"/>
            <a:ext cx="36576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99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190A102-BC1B-5595-E030-F60BB0820B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034434" y="-840509"/>
            <a:ext cx="9144000" cy="2387600"/>
          </a:xfrm>
        </p:spPr>
        <p:txBody>
          <a:bodyPr/>
          <a:lstStyle/>
          <a:p>
            <a:r>
              <a:rPr lang="cs-CZ" dirty="0"/>
              <a:t>Závěr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176AA1A-8F14-F01B-5305-EC482A5437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4025" y="1849438"/>
            <a:ext cx="9144000" cy="2112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cs-CZ" sz="1800" dirty="0">
                <a:latin typeface="+mj-lt"/>
              </a:rPr>
              <a:t>Cílem bylo vytvořit každý aspekt hry sám — kód, grafiku, hudbu</a:t>
            </a:r>
            <a:endParaRPr lang="en-US" sz="1800" dirty="0">
              <a:latin typeface="+mj-lt"/>
            </a:endParaRPr>
          </a:p>
          <a:p>
            <a:pPr algn="l"/>
            <a:endParaRPr lang="en-US" sz="1800" dirty="0">
              <a:latin typeface="+mj-lt"/>
            </a:endParaRPr>
          </a:p>
          <a:p>
            <a:pPr algn="l"/>
            <a:r>
              <a:rPr lang="pt-BR" sz="1800" dirty="0">
                <a:latin typeface="+mj-lt"/>
              </a:rPr>
              <a:t>V průběhu vývoje jsem narazil na scope creep a ztrátu motivace </a:t>
            </a:r>
          </a:p>
          <a:p>
            <a:pPr algn="l"/>
            <a:endParaRPr lang="pt-BR" sz="1800" dirty="0">
              <a:latin typeface="+mj-lt"/>
            </a:endParaRPr>
          </a:p>
          <a:p>
            <a:pPr algn="l"/>
            <a:r>
              <a:rPr lang="pt-BR" sz="1800" dirty="0">
                <a:latin typeface="+mj-lt"/>
              </a:rPr>
              <a:t>Cht</a:t>
            </a:r>
            <a:r>
              <a:rPr lang="cs-CZ" sz="1800" dirty="0" err="1">
                <a:latin typeface="+mj-lt"/>
              </a:rPr>
              <a:t>ěl</a:t>
            </a:r>
            <a:r>
              <a:rPr lang="cs-CZ" sz="1800" dirty="0">
                <a:latin typeface="+mj-lt"/>
              </a:rPr>
              <a:t> bych taky podoktnout, že jsem hodně věcí co ve finální verzi bylo, nepřidal, protože něco na nich nefungovalo</a:t>
            </a:r>
            <a:br>
              <a:rPr lang="en-US" sz="1800" dirty="0">
                <a:latin typeface="+mj-lt"/>
              </a:rPr>
            </a:br>
            <a:br>
              <a:rPr lang="en-US" sz="1800" dirty="0">
                <a:latin typeface="+mj-lt"/>
              </a:rPr>
            </a:br>
            <a:endParaRPr lang="cs-CZ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54350967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1306</TotalTime>
  <Words>395</Words>
  <Application>Microsoft Office PowerPoint</Application>
  <PresentationFormat>Širokoúhlá obrazovka</PresentationFormat>
  <Paragraphs>80</Paragraphs>
  <Slides>11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Motiv Office</vt:lpstr>
      <vt:lpstr>Neonexa</vt:lpstr>
      <vt:lpstr>Prezentace aplikace PowerPoint</vt:lpstr>
      <vt:lpstr>Co je Neonexa? </vt:lpstr>
      <vt:lpstr>Proč zrovna videohra?</vt:lpstr>
      <vt:lpstr>Proč Godot?</vt:lpstr>
      <vt:lpstr>Co je Metroidvania?</vt:lpstr>
      <vt:lpstr>State Machine</vt:lpstr>
      <vt:lpstr>UI + Singletony</vt:lpstr>
      <vt:lpstr>Art Pipeline + Hudba</vt:lpstr>
      <vt:lpstr>Prezentace aplikace PowerPoint</vt:lpstr>
      <vt:lpstr>Závěr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Existentialism -lab</dc:creator>
  <cp:lastModifiedBy>Existentialism -lab</cp:lastModifiedBy>
  <cp:revision>12</cp:revision>
  <dcterms:created xsi:type="dcterms:W3CDTF">2026-04-19T20:39:14Z</dcterms:created>
  <dcterms:modified xsi:type="dcterms:W3CDTF">2026-05-25T04:10:45Z</dcterms:modified>
</cp:coreProperties>
</file>